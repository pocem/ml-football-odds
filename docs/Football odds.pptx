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6" r:id="rId9"/>
    <p:sldId id="264" r:id="rId10"/>
    <p:sldId id="263" r:id="rId11"/>
    <p:sldId id="265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A180A8E-4668-486A-95D0-DBD6BDD7C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BB8E81-5147-5506-5F4B-DBC0E7AF2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6200" y="637890"/>
            <a:ext cx="0" cy="557241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852B95-CFB8-EEBE-3973-7363B3611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96332" y="768924"/>
            <a:ext cx="0" cy="480060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1A205B3-F30A-B2B0-2AFF-593443D327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503863" y="1354138"/>
            <a:ext cx="5322887" cy="448151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831992"/>
            <a:ext cx="5897880" cy="4258956"/>
          </a:xfrm>
          <a:solidFill>
            <a:schemeClr val="bg2"/>
          </a:solidFill>
        </p:spPr>
        <p:txBody>
          <a:bodyPr lIns="182880" rIns="228600" bIns="91440" anchor="b">
            <a:normAutofit/>
          </a:bodyPr>
          <a:lstStyle>
            <a:lvl1pPr algn="r">
              <a:lnSpc>
                <a:spcPct val="80000"/>
              </a:lnSpc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5431" y="5372809"/>
            <a:ext cx="2364946" cy="909119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47529" y="612251"/>
            <a:ext cx="2070397" cy="518965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897326" y="5229935"/>
            <a:ext cx="1223795" cy="365125"/>
          </a:xfrm>
          <a:solidFill>
            <a:schemeClr val="bg2"/>
          </a:solidFill>
        </p:spPr>
        <p:txBody>
          <a:bodyPr rIns="182880"/>
          <a:lstStyle/>
          <a:p>
            <a:fld id="{C84392B5-E3F0-4926-9B47-5A9514782A41}" type="datetimeFigureOut">
              <a:rPr lang="en-DK" smtClean="0"/>
              <a:t>31/08/2026</a:t>
            </a:fld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400" y="6029866"/>
            <a:ext cx="461438" cy="365125"/>
          </a:xfrm>
          <a:solidFill>
            <a:schemeClr val="bg2"/>
          </a:solidFill>
        </p:spPr>
        <p:txBody>
          <a:bodyPr/>
          <a:lstStyle/>
          <a:p>
            <a:fld id="{C6153B1F-D157-4B6F-B716-B2B2834A1BB4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787673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2986" y="265728"/>
            <a:ext cx="10981137" cy="1325563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986" y="1736176"/>
            <a:ext cx="10981137" cy="4198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392B5-E3F0-4926-9B47-5A9514782A41}" type="datetimeFigureOut">
              <a:rPr lang="en-DK" smtClean="0"/>
              <a:t>31/08/2026</a:t>
            </a:fld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3B1F-D157-4B6F-B716-B2B2834A1BB4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773774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90397"/>
            <a:ext cx="0" cy="4396003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D120947-D69A-84F3-7617-0239E8E5C7F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791" y="1371600"/>
            <a:ext cx="670639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3850" y="685799"/>
            <a:ext cx="6373670" cy="2743201"/>
          </a:xfrm>
          <a:solidFill>
            <a:schemeClr val="bg2"/>
          </a:solidFill>
        </p:spPr>
        <p:txBody>
          <a:bodyPr vert="horz" lIns="182880" tIns="45720" rIns="91440" bIns="91440" rtlCol="0" anchor="b">
            <a:normAutofit/>
          </a:bodyPr>
          <a:lstStyle>
            <a:lvl1pPr>
              <a:lnSpc>
                <a:spcPct val="80000"/>
              </a:lnSpc>
              <a:defRPr lang="en-US" sz="68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00457" y="5570290"/>
            <a:ext cx="4114799" cy="69951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5FE83-3A40-27CC-D68D-E889297B8CA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45716" y="508084"/>
            <a:ext cx="429372" cy="365125"/>
          </a:xfrm>
          <a:noFill/>
        </p:spPr>
        <p:txBody>
          <a:bodyPr/>
          <a:lstStyle/>
          <a:p>
            <a:fld id="{C6153B1F-D157-4B6F-B716-B2B2834A1BB4}" type="slidenum">
              <a:rPr lang="en-DK" smtClean="0"/>
              <a:t>‹#›</a:t>
            </a:fld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663" y="508084"/>
            <a:ext cx="1203320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C84392B5-E3F0-4926-9B47-5A9514782A41}" type="datetimeFigureOut">
              <a:rPr lang="en-DK" smtClean="0"/>
              <a:t>31/08/2026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03" y="612063"/>
            <a:ext cx="1487296" cy="478334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335036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33580"/>
            <a:ext cx="0" cy="480029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59" y="338328"/>
            <a:ext cx="8168640" cy="4462272"/>
          </a:xfrm>
          <a:noFill/>
        </p:spPr>
        <p:txBody>
          <a:bodyPr vert="horz" lIns="91440" tIns="45720" rIns="91440" bIns="137160" rtlCol="0" anchor="t">
            <a:normAutofit/>
          </a:bodyPr>
          <a:lstStyle>
            <a:lvl1pPr>
              <a:lnSpc>
                <a:spcPct val="80000"/>
              </a:lnSpc>
              <a:defRPr lang="en-US" sz="9600" spc="-100" baseline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34400" y="4754729"/>
            <a:ext cx="3084441" cy="1080302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spc="100" baseline="0" dirty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0" y="447579"/>
            <a:ext cx="2477899" cy="586001"/>
          </a:xfrm>
          <a:noFill/>
        </p:spPr>
        <p:txBody>
          <a:bodyPr/>
          <a:lstStyle>
            <a:lvl1pPr algn="r">
              <a:defRPr sz="1050"/>
            </a:lvl1pPr>
          </a:lstStyle>
          <a:p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C84392B5-E3F0-4926-9B47-5A9514782A41}" type="datetimeFigureOut">
              <a:rPr lang="en-DK" smtClean="0"/>
              <a:t>31/08/2026</a:t>
            </a:fld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6153B1F-D157-4B6F-B716-B2B2834A1BB4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075178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D3069F5-8FDE-3652-E906-3619BF9A5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B286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3E913D-4F8E-6F1A-DB89-A9E5CB7D2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172185"/>
            <a:ext cx="10326757" cy="0"/>
          </a:xfrm>
          <a:prstGeom prst="line">
            <a:avLst/>
          </a:prstGeom>
          <a:ln w="12700">
            <a:solidFill>
              <a:schemeClr val="bg2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15478846-46FB-2BEE-98D6-C903223E25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" y="365760"/>
            <a:ext cx="11534790" cy="5525653"/>
          </a:xfrm>
          <a:noFill/>
        </p:spPr>
        <p:txBody>
          <a:bodyPr anchor="t">
            <a:normAutofit/>
          </a:bodyPr>
          <a:lstStyle>
            <a:lvl1pPr>
              <a:defRPr sz="11500" baseline="0">
                <a:ln>
                  <a:solidFill>
                    <a:schemeClr val="bg1"/>
                  </a:solidFill>
                </a:ln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8544F-8D58-BFED-5A2B-2F718BA6F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0139D-4890-4E0D-B3FD-098A02AB4A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84392B5-E3F0-4926-9B47-5A9514782A41}" type="datetimeFigureOut">
              <a:rPr lang="en-DK" smtClean="0"/>
              <a:t>31/08/2026</a:t>
            </a:fld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CD1DB-3989-A34F-B5F7-DF66E018C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6153B1F-D157-4B6F-B716-B2B2834A1BB4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944016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321906" y="685800"/>
            <a:ext cx="10184294" cy="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4403" y="2043904"/>
            <a:ext cx="7467597" cy="481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406175" y="2720396"/>
            <a:ext cx="5645423" cy="2494309"/>
          </a:xfrm>
          <a:solidFill>
            <a:schemeClr val="bg2">
              <a:lumMod val="90000"/>
            </a:schemeClr>
          </a:solidFill>
        </p:spPr>
        <p:txBody>
          <a:bodyPr vert="horz" lIns="91440" tIns="45720" rIns="91440" bIns="137160" rtlCol="0" anchor="t">
            <a:normAutofit/>
          </a:bodyPr>
          <a:lstStyle>
            <a:lvl1pPr>
              <a:defRPr lang="en-US" sz="12000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6410" y="569843"/>
            <a:ext cx="1470992" cy="541698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algn="l">
              <a:defRPr sz="1050"/>
            </a:lvl1pPr>
          </a:lstStyle>
          <a:p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198" y="2743202"/>
            <a:ext cx="6096001" cy="3467098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413627"/>
            <a:ext cx="1256738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C84392B5-E3F0-4926-9B47-5A9514782A41}" type="datetimeFigureOut">
              <a:rPr lang="en-DK" smtClean="0"/>
              <a:t>31/08/2026</a:t>
            </a:fld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413627"/>
            <a:ext cx="429372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C6153B1F-D157-4B6F-B716-B2B2834A1BB4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418443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3" y="3415504"/>
            <a:ext cx="10820397" cy="34424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11506200" y="1113182"/>
            <a:ext cx="0" cy="170401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306" y="182880"/>
            <a:ext cx="7930892" cy="2238587"/>
          </a:xfrm>
          <a:noFill/>
        </p:spPr>
        <p:txBody>
          <a:bodyPr anchor="t">
            <a:normAutofit/>
          </a:bodyPr>
          <a:lstStyle>
            <a:lvl1pPr>
              <a:defRPr sz="12000" spc="-5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4946" y="3840480"/>
            <a:ext cx="6543924" cy="2536466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11" y="612381"/>
            <a:ext cx="1484228" cy="479352"/>
          </a:xfrm>
          <a:noFill/>
        </p:spPr>
        <p:txBody>
          <a:bodyPr anchor="t"/>
          <a:lstStyle>
            <a:lvl1pPr algn="r">
              <a:defRPr sz="1050"/>
            </a:lvl1pPr>
          </a:lstStyle>
          <a:p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33512" y="2756699"/>
            <a:ext cx="1256738" cy="423823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algn="r">
              <a:defRPr/>
            </a:lvl1pPr>
          </a:lstStyle>
          <a:p>
            <a:fld id="{C84392B5-E3F0-4926-9B47-5A9514782A41}" type="datetimeFigureOut">
              <a:rPr lang="en-DK" smtClean="0"/>
              <a:t>31/08/2026</a:t>
            </a:fld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544" y="2756699"/>
            <a:ext cx="429372" cy="423823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C6153B1F-D157-4B6F-B716-B2B2834A1BB4}" type="slidenum">
              <a:rPr lang="en-DK" smtClean="0"/>
              <a:t>‹#›</a:t>
            </a:fld>
            <a:endParaRPr lang="en-DK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DA62460-475C-38E7-135D-916B98438D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763000" y="3415504"/>
            <a:ext cx="3429000" cy="344249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33261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1" y="2057399"/>
            <a:ext cx="3429000" cy="1868557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0" y="2057401"/>
            <a:ext cx="4648200" cy="2743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392B5-E3F0-4926-9B47-5A9514782A41}" type="datetimeFigureOut">
              <a:rPr lang="en-DK" smtClean="0"/>
              <a:t>31/08/2026</a:t>
            </a:fld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3B1F-D157-4B6F-B716-B2B2834A1BB4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743040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31915"/>
            <a:ext cx="3968496" cy="1494845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020" y="1001865"/>
            <a:ext cx="6416180" cy="4683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7"/>
            <a:ext cx="1179576" cy="365125"/>
          </a:xfrm>
        </p:spPr>
        <p:txBody>
          <a:bodyPr/>
          <a:lstStyle/>
          <a:p>
            <a:fld id="{C84392B5-E3F0-4926-9B47-5A9514782A41}" type="datetimeFigureOut">
              <a:rPr lang="en-DK" smtClean="0"/>
              <a:t>31/08/2026</a:t>
            </a:fld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3B1F-D157-4B6F-B716-B2B2834A1BB4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862577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1242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38400" y="0"/>
            <a:ext cx="7391400" cy="1207008"/>
          </a:xfrm>
        </p:spPr>
        <p:txBody>
          <a:bodyPr lIns="137160" tIns="137160" bIns="91440" anchor="b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3800" y="1367622"/>
            <a:ext cx="7929006" cy="44775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B460515-4779-2CA9-5335-1F4AD158B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0" y="6210300"/>
            <a:ext cx="7696200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1" y="6029868"/>
            <a:ext cx="2024542" cy="365125"/>
          </a:xfrm>
        </p:spPr>
        <p:txBody>
          <a:bodyPr/>
          <a:lstStyle/>
          <a:p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C84392B5-E3F0-4926-9B47-5A9514782A41}" type="datetimeFigureOut">
              <a:rPr lang="en-DK" smtClean="0"/>
              <a:t>31/08/2026</a:t>
            </a:fld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3B1F-D157-4B6F-B716-B2B2834A1BB4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036013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486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3318" y="0"/>
            <a:ext cx="4385481" cy="1796124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5056" y="1965281"/>
            <a:ext cx="4859992" cy="37328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392B5-E3F0-4926-9B47-5A9514782A41}" type="datetimeFigureOut">
              <a:rPr lang="en-DK" smtClean="0"/>
              <a:t>31/08/2026</a:t>
            </a:fld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3B1F-D157-4B6F-B716-B2B2834A1BB4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220883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99475"/>
            <a:ext cx="3625442" cy="1474692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2124222"/>
            <a:ext cx="3567404" cy="3488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00601" y="0"/>
            <a:ext cx="7391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C84392B5-E3F0-4926-9B47-5A9514782A41}" type="datetimeFigureOut">
              <a:rPr lang="en-DK" smtClean="0"/>
              <a:t>31/08/2026</a:t>
            </a:fld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C6153B1F-D157-4B6F-B716-B2B2834A1BB4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6730874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30047"/>
            <a:ext cx="4939005" cy="116627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1746792"/>
            <a:ext cx="5776896" cy="3969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91400" y="0"/>
            <a:ext cx="48006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C84392B5-E3F0-4926-9B47-5A9514782A41}" type="datetimeFigureOut">
              <a:rPr lang="en-DK" smtClean="0"/>
              <a:t>31/08/2026</a:t>
            </a:fld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C6153B1F-D157-4B6F-B716-B2B2834A1BB4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639384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8486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0456" y="0"/>
            <a:ext cx="4142830" cy="1978681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2196" y="2112973"/>
            <a:ext cx="3151090" cy="3678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912" y="6029868"/>
            <a:ext cx="1911096" cy="365125"/>
          </a:xfrm>
          <a:noFill/>
        </p:spPr>
        <p:txBody>
          <a:bodyPr/>
          <a:lstStyle/>
          <a:p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51008" y="6029868"/>
            <a:ext cx="890077" cy="365125"/>
          </a:xfrm>
          <a:noFill/>
        </p:spPr>
        <p:txBody>
          <a:bodyPr/>
          <a:lstStyle/>
          <a:p>
            <a:fld id="{C84392B5-E3F0-4926-9B47-5A9514782A41}" type="datetimeFigureOut">
              <a:rPr lang="en-DK" smtClean="0"/>
              <a:t>31/08/2026</a:t>
            </a:fld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6153B1F-D157-4B6F-B716-B2B2834A1BB4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5152524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EB1BA68-9980-8CBB-7BAF-A1D760EB21E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2000" cy="6858000"/>
          </a:xfrm>
          <a:custGeom>
            <a:avLst/>
            <a:gdLst>
              <a:gd name="connsiteX0" fmla="*/ 48006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5562599 h 6858000"/>
              <a:gd name="connsiteX5" fmla="*/ 4800600 w 12192000"/>
              <a:gd name="connsiteY5" fmla="*/ 55625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480060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5562599"/>
                </a:lnTo>
                <a:lnTo>
                  <a:pt x="4800600" y="5562599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01376"/>
            <a:ext cx="3601122" cy="1362458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504" y="2496848"/>
            <a:ext cx="3601122" cy="230375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3504" y="503237"/>
            <a:ext cx="1907799" cy="365125"/>
          </a:xfrm>
          <a:noFill/>
        </p:spPr>
        <p:txBody>
          <a:bodyPr/>
          <a:lstStyle>
            <a:lvl1pPr algn="l">
              <a:defRPr/>
            </a:lvl1pPr>
          </a:lstStyle>
          <a:p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504" y="4800600"/>
            <a:ext cx="1256738" cy="365125"/>
          </a:xfrm>
          <a:noFill/>
        </p:spPr>
        <p:txBody>
          <a:bodyPr/>
          <a:lstStyle>
            <a:lvl1pPr algn="l">
              <a:defRPr/>
            </a:lvl1pPr>
          </a:lstStyle>
          <a:p>
            <a:fld id="{C84392B5-E3F0-4926-9B47-5A9514782A41}" type="datetimeFigureOut">
              <a:rPr lang="en-DK" smtClean="0"/>
              <a:t>31/08/2026</a:t>
            </a:fld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47641" y="4800600"/>
            <a:ext cx="429372" cy="365125"/>
          </a:xfrm>
          <a:noFill/>
        </p:spPr>
        <p:txBody>
          <a:bodyPr/>
          <a:lstStyle/>
          <a:p>
            <a:fld id="{C6153B1F-D157-4B6F-B716-B2B2834A1BB4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5758968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673955"/>
            <a:ext cx="3154680" cy="1287913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1148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4647060"/>
            <a:ext cx="7552114" cy="1382807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noFill/>
        </p:spPr>
        <p:txBody>
          <a:bodyPr/>
          <a:lstStyle/>
          <a:p>
            <a:fld id="{C84392B5-E3F0-4926-9B47-5A9514782A41}" type="datetimeFigureOut">
              <a:rPr lang="en-DK" smtClean="0"/>
              <a:t>31/08/2026</a:t>
            </a:fld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7542" y="6029868"/>
            <a:ext cx="429372" cy="365125"/>
          </a:xfrm>
          <a:noFill/>
        </p:spPr>
        <p:txBody>
          <a:bodyPr/>
          <a:lstStyle/>
          <a:p>
            <a:fld id="{C6153B1F-D157-4B6F-B716-B2B2834A1BB4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152388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5" y="337062"/>
            <a:ext cx="6787898" cy="845931"/>
          </a:xfrm>
        </p:spPr>
        <p:txBody>
          <a:bodyPr tIns="91440" bIns="9144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05468" y="637706"/>
            <a:ext cx="1907799" cy="365125"/>
          </a:xfrm>
        </p:spPr>
        <p:txBody>
          <a:bodyPr anchor="t"/>
          <a:lstStyle>
            <a:lvl1pPr algn="r">
              <a:defRPr/>
            </a:lvl1pPr>
          </a:lstStyle>
          <a:p>
            <a:endParaRPr lang="en-DK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371600"/>
            <a:ext cx="739140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6163" y="1266737"/>
            <a:ext cx="2894795" cy="47631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392B5-E3F0-4926-9B47-5A9514782A41}" type="datetimeFigureOut">
              <a:rPr lang="en-DK" smtClean="0"/>
              <a:t>31/08/2026</a:t>
            </a:fld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3B1F-D157-4B6F-B716-B2B2834A1BB4}" type="slidenum">
              <a:rPr lang="en-DK" smtClean="0"/>
              <a:t>‹#›</a:t>
            </a:fld>
            <a:endParaRPr lang="en-DK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F397562-DA4B-EE6B-8F6C-1CE4F33EB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704" y="1028700"/>
            <a:ext cx="0" cy="480060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25532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800600" cy="482237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2085" y="4374100"/>
            <a:ext cx="3897905" cy="1380814"/>
          </a:xfrm>
        </p:spPr>
        <p:txBody>
          <a:bodyPr lIns="137160" tIns="137160"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516" y="685800"/>
            <a:ext cx="5430884" cy="5204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2974" y="6029867"/>
            <a:ext cx="1911096" cy="365126"/>
          </a:xfrm>
          <a:solidFill>
            <a:schemeClr val="bg1"/>
          </a:solidFill>
        </p:spPr>
        <p:txBody>
          <a:bodyPr anchor="ctr"/>
          <a:lstStyle>
            <a:lvl1pPr algn="l">
              <a:defRPr/>
            </a:lvl1pPr>
          </a:lstStyle>
          <a:p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solidFill>
            <a:schemeClr val="bg1"/>
          </a:solidFill>
        </p:spPr>
        <p:txBody>
          <a:bodyPr/>
          <a:lstStyle/>
          <a:p>
            <a:fld id="{C84392B5-E3F0-4926-9B47-5A9514782A41}" type="datetimeFigureOut">
              <a:rPr lang="en-DK" smtClean="0"/>
              <a:t>31/08/2026</a:t>
            </a:fld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3B1F-D157-4B6F-B716-B2B2834A1BB4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9379196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424EAB6-808C-672B-68A5-49764748C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599" y="5149121"/>
            <a:ext cx="6861107" cy="842527"/>
          </a:xfrm>
          <a:noFill/>
        </p:spPr>
        <p:txBody>
          <a:bodyPr anchor="t"/>
          <a:lstStyle>
            <a:lvl1pPr algn="r">
              <a:defRPr b="0" cap="all" baseline="0">
                <a:solidFill>
                  <a:schemeClr val="accent1"/>
                </a:solidFill>
                <a:effectLst/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4196" y="120765"/>
            <a:ext cx="10723000" cy="4260404"/>
          </a:xfrm>
        </p:spPr>
        <p:txBody>
          <a:bodyPr lIns="0" tIns="0" rIns="0" bIns="0" anchor="b">
            <a:normAutofit/>
          </a:bodyPr>
          <a:lstStyle>
            <a:lvl1pPr marL="0" indent="0">
              <a:buNone/>
              <a:defRPr sz="28000" spc="-200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6029867"/>
            <a:ext cx="2137769" cy="365125"/>
          </a:xfrm>
          <a:noFill/>
        </p:spPr>
        <p:txBody>
          <a:bodyPr/>
          <a:lstStyle>
            <a:lvl1pPr>
              <a:defRPr b="0">
                <a:solidFill>
                  <a:schemeClr val="tx2"/>
                </a:solidFill>
              </a:defRPr>
            </a:lvl1pPr>
          </a:lstStyle>
          <a:p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4392B5-E3F0-4926-9B47-5A9514782A41}" type="datetimeFigureOut">
              <a:rPr lang="en-DK" smtClean="0"/>
              <a:t>31/08/2026</a:t>
            </a:fld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6153B1F-D157-4B6F-B716-B2B2834A1BB4}" type="slidenum">
              <a:rPr lang="en-DK" smtClean="0"/>
              <a:t>‹#›</a:t>
            </a:fld>
            <a:endParaRPr lang="en-DK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8393CD-94B6-EC8A-E14F-A09689A25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3594" y="675861"/>
            <a:ext cx="0" cy="4184295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15789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65FCAFD-B73A-5597-B603-55FD5D3AA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431" y="-785191"/>
            <a:ext cx="10981137" cy="640080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7930" y="1649896"/>
            <a:ext cx="10169921" cy="4949687"/>
          </a:xfrm>
        </p:spPr>
        <p:txBody>
          <a:bodyPr anchor="b">
            <a:norm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200" cap="all" spc="-100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C1887E-643E-BB68-F557-E1EAB0A0A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85800"/>
            <a:ext cx="10326757" cy="0"/>
          </a:xfrm>
          <a:prstGeom prst="line">
            <a:avLst/>
          </a:prstGeom>
          <a:ln w="12700">
            <a:solidFill>
              <a:schemeClr val="bg1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501227"/>
            <a:ext cx="1907799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 b="0" spc="0">
                <a:solidFill>
                  <a:schemeClr val="bg1"/>
                </a:solidFill>
              </a:defRPr>
            </a:lvl1pPr>
          </a:lstStyle>
          <a:p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501227"/>
            <a:ext cx="1256738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84392B5-E3F0-4926-9B47-5A9514782A41}" type="datetimeFigureOut">
              <a:rPr lang="en-DK" smtClean="0"/>
              <a:t>31/08/2026</a:t>
            </a:fld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501227"/>
            <a:ext cx="429372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6153B1F-D157-4B6F-B716-B2B2834A1BB4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997242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052C017-FC5C-A7A2-BA15-6C113717C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8D5F78-0179-D9C3-74D3-62CE152FF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8763000" cy="50383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B386FE-4A21-B72A-BB2B-D4FDFDC3E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accent5">
                <a:alpha val="4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D4813FB1-9165-4DD7-C4C2-EAFC20602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5410203"/>
            <a:ext cx="7543800" cy="372746"/>
          </a:xfrm>
          <a:noFill/>
        </p:spPr>
        <p:txBody>
          <a:bodyPr tIns="91440" bIns="91440" anchor="ctr">
            <a:normAutofit/>
          </a:bodyPr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3504" y="725556"/>
            <a:ext cx="8845296" cy="3656168"/>
          </a:xfrm>
        </p:spPr>
        <p:txBody>
          <a:bodyPr>
            <a:normAutofit/>
          </a:bodyPr>
          <a:lstStyle>
            <a:lvl1pPr marL="228600" indent="-228600">
              <a:lnSpc>
                <a:spcPct val="85000"/>
              </a:lnSpc>
              <a:spcBef>
                <a:spcPts val="0"/>
              </a:spcBef>
              <a:buNone/>
              <a:defRPr sz="5800" b="0" cap="all" spc="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4F49A81-8721-B846-5567-52769C04D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8"/>
            <a:ext cx="1911096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B3E54B7-FFB1-7BFC-0189-A17360728C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02368" y="6029868"/>
            <a:ext cx="1435608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C84392B5-E3F0-4926-9B47-5A9514782A41}" type="datetimeFigureOut">
              <a:rPr lang="en-DK" smtClean="0"/>
              <a:t>31/08/2026</a:t>
            </a:fld>
            <a:endParaRPr lang="en-DK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1DF2706-0EDF-0D3B-C01B-613E7D1BB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C6153B1F-D157-4B6F-B716-B2B2834A1BB4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1645756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50773-1259-8F51-3561-DF3A80B26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185"/>
            <a:ext cx="10902696" cy="1070849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966CF-BE4B-28C8-6D17-E087E97C0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5431" y="1756230"/>
            <a:ext cx="5181600" cy="40349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559437-5037-4EE7-88FA-80C5AA087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4600" y="1756230"/>
            <a:ext cx="5181600" cy="40349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326746-DF44-9DEF-8471-A5E1F6CCC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50B58-64D5-F359-1AC8-3D57AA87B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392B5-E3F0-4926-9B47-5A9514782A41}" type="datetimeFigureOut">
              <a:rPr lang="en-DK" smtClean="0"/>
              <a:t>31/08/2026</a:t>
            </a:fld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A22FA-48E7-5BF5-6432-6C7A54D7E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3B1F-D157-4B6F-B716-B2B2834A1BB4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9498405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D8D87-72DE-A210-5C2D-570A1B01D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206"/>
            <a:ext cx="10899648" cy="1069848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932A9-21A4-5A57-9D72-8C46993E6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631076"/>
            <a:ext cx="5157787" cy="70939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3D4B4-A366-E12D-19BB-C17B71466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5431" y="2372146"/>
            <a:ext cx="5157787" cy="34952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06DAAF-1A05-D83C-70C1-CEADA4EB73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4600" y="1631076"/>
            <a:ext cx="5183188" cy="70939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FE7B13-3453-6313-B416-E9FF9DA2E0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4600" y="2372146"/>
            <a:ext cx="5183188" cy="34952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61BE2D-E1A3-1A5C-AE37-9DC52A971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D5902D-DF04-F2A8-C2F8-EBDD2A897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392B5-E3F0-4926-9B47-5A9514782A41}" type="datetimeFigureOut">
              <a:rPr lang="en-DK" smtClean="0"/>
              <a:t>31/08/2026</a:t>
            </a:fld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4FDDA8-940A-B407-4EB2-85DC9BEDB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3B1F-D157-4B6F-B716-B2B2834A1BB4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55039225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151FC-CD6F-656F-54A8-59B782BEF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265176"/>
            <a:ext cx="11028923" cy="1325880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7D307A-FF1F-38A3-7DE5-F11DC31CA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4C539B-20CB-8D83-0ECC-5F682BD0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392B5-E3F0-4926-9B47-5A9514782A41}" type="datetimeFigureOut">
              <a:rPr lang="en-DK" smtClean="0"/>
              <a:t>31/08/2026</a:t>
            </a:fld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6EB674-912E-381A-49CE-08E49DFF4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3B1F-D157-4B6F-B716-B2B2834A1BB4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4817619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FA0B77-3CB1-4071-30F6-B0766D75C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4A81A7-FC7B-1689-D59F-4173A1763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392B5-E3F0-4926-9B47-5A9514782A41}" type="datetimeFigureOut">
              <a:rPr lang="en-DK" smtClean="0"/>
              <a:t>31/08/2026</a:t>
            </a:fld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80D98-2C9A-3434-E8A3-DA6CCD2F5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3B1F-D157-4B6F-B716-B2B2834A1BB4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11878780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22766A-BE9C-B780-CC66-44ECFC5C0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57400" y="3084659"/>
            <a:ext cx="10133956" cy="3773341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6" y="182881"/>
            <a:ext cx="8616684" cy="1874520"/>
          </a:xfrm>
          <a:noFill/>
        </p:spPr>
        <p:txBody>
          <a:bodyPr anchor="t">
            <a:normAutofit/>
          </a:bodyPr>
          <a:lstStyle>
            <a:lvl1pPr>
              <a:defRPr sz="9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53600" y="617923"/>
            <a:ext cx="1866897" cy="461881"/>
          </a:xfrm>
          <a:noFill/>
        </p:spPr>
        <p:txBody>
          <a:bodyPr anchor="t"/>
          <a:lstStyle>
            <a:lvl1pPr algn="r">
              <a:defRPr sz="900"/>
            </a:lvl1pPr>
          </a:lstStyle>
          <a:p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5846" y="3544866"/>
            <a:ext cx="8990722" cy="2446782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95846" y="6024816"/>
            <a:ext cx="1809495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C84392B5-E3F0-4926-9B47-5A9514782A41}" type="datetimeFigureOut">
              <a:rPr lang="en-DK" smtClean="0"/>
              <a:t>31/08/2026</a:t>
            </a:fld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bg2"/>
          </a:solidFill>
        </p:spPr>
        <p:txBody>
          <a:bodyPr/>
          <a:lstStyle/>
          <a:p>
            <a:fld id="{C6153B1F-D157-4B6F-B716-B2B2834A1BB4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93805517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2AC4BE-2FD3-AAF4-8A1B-0633F1BEE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436077" cy="2057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652D305-42E1-E86E-632C-9DFD4F747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" y="4564627"/>
            <a:ext cx="5068016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25" y="530940"/>
            <a:ext cx="7703576" cy="1308290"/>
          </a:xfrm>
          <a:noFill/>
        </p:spPr>
        <p:txBody>
          <a:bodyPr anchor="t">
            <a:normAutofit/>
          </a:bodyPr>
          <a:lstStyle>
            <a:lvl1pPr>
              <a:defRPr sz="80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7005" y="3571531"/>
            <a:ext cx="5009534" cy="1987694"/>
          </a:xfrm>
        </p:spPr>
        <p:txBody>
          <a:bodyPr anchor="ctr"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7"/>
            <a:ext cx="1911096" cy="365126"/>
          </a:xfrm>
          <a:noFill/>
        </p:spPr>
        <p:txBody>
          <a:bodyPr anchor="ctr"/>
          <a:lstStyle>
            <a:lvl1pPr algn="l">
              <a:defRPr sz="900" b="1"/>
            </a:lvl1pPr>
          </a:lstStyle>
          <a:p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99320" y="6029867"/>
            <a:ext cx="1441766" cy="365125"/>
          </a:xfrm>
          <a:noFill/>
        </p:spPr>
        <p:txBody>
          <a:bodyPr/>
          <a:lstStyle>
            <a:lvl1pPr algn="r">
              <a:defRPr/>
            </a:lvl1pPr>
          </a:lstStyle>
          <a:p>
            <a:fld id="{C84392B5-E3F0-4926-9B47-5A9514782A41}" type="datetimeFigureOut">
              <a:rPr lang="en-DK" smtClean="0"/>
              <a:t>31/08/2026</a:t>
            </a:fld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6153B1F-D157-4B6F-B716-B2B2834A1BB4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322770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BAF5C3-82B6-427E-5D2E-900A2D90A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1AA792-727F-F91C-6564-A882FAF11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351270"/>
            <a:ext cx="10981137" cy="123972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13716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0A246-77A4-EC4C-28B8-90388BB8E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745956"/>
            <a:ext cx="10981137" cy="3983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F6714-5B6F-439F-4173-D518237123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430" y="6029868"/>
            <a:ext cx="191109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l">
              <a:defRPr sz="900" b="1" cap="all" spc="60" baseline="0">
                <a:solidFill>
                  <a:schemeClr val="tx2"/>
                </a:solidFill>
              </a:defRPr>
            </a:lvl1pPr>
          </a:lstStyle>
          <a:p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842E6-B4ED-431B-B1A0-22352BA62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0" y="6029868"/>
            <a:ext cx="118268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C84392B5-E3F0-4926-9B47-5A9514782A41}" type="datetimeFigureOut">
              <a:rPr lang="en-DK" smtClean="0"/>
              <a:t>31/08/2026</a:t>
            </a:fld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743A1-0EE5-84FA-44EE-3CDDB793A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3434" y="6029868"/>
            <a:ext cx="429372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C6153B1F-D157-4B6F-B716-B2B2834A1BB4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5696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marL="0" algn="l" defTabSz="914400" rtl="0" eaLnBrk="1" latinLnBrk="0" hangingPunct="1">
        <a:lnSpc>
          <a:spcPct val="100000"/>
        </a:lnSpc>
        <a:spcBef>
          <a:spcPct val="0"/>
        </a:spcBef>
        <a:spcAft>
          <a:spcPts val="0"/>
        </a:spcAft>
        <a:buNone/>
        <a:defRPr sz="2800" kern="1200" cap="all" baseline="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864">
          <p15:clr>
            <a:srgbClr val="F26B43"/>
          </p15:clr>
        </p15:guide>
        <p15:guide id="3" pos="432">
          <p15:clr>
            <a:srgbClr val="F26B43"/>
          </p15:clr>
        </p15:guide>
        <p15:guide id="4" orient="horz" pos="3912">
          <p15:clr>
            <a:srgbClr val="F26B43"/>
          </p15:clr>
        </p15:guide>
        <p15:guide id="5" orient="horz" pos="3504">
          <p15:clr>
            <a:srgbClr val="F26B43"/>
          </p15:clr>
        </p15:guide>
        <p15:guide id="6" orient="horz" pos="3024">
          <p15:clr>
            <a:srgbClr val="F26B43"/>
          </p15:clr>
        </p15:guide>
        <p15:guide id="7" orient="horz" pos="2592">
          <p15:clr>
            <a:srgbClr val="F26B43"/>
          </p15:clr>
        </p15:guide>
        <p15:guide id="8" orient="horz" pos="1728">
          <p15:clr>
            <a:srgbClr val="F26B43"/>
          </p15:clr>
        </p15:guide>
        <p15:guide id="9" orient="horz" pos="1296">
          <p15:clr>
            <a:srgbClr val="F26B43"/>
          </p15:clr>
        </p15:guide>
        <p15:guide id="10" orient="horz" pos="864">
          <p15:clr>
            <a:srgbClr val="F26B43"/>
          </p15:clr>
        </p15:guide>
        <p15:guide id="11" orient="horz" pos="432">
          <p15:clr>
            <a:srgbClr val="F26B43"/>
          </p15:clr>
        </p15:guide>
        <p15:guide id="12" pos="1296">
          <p15:clr>
            <a:srgbClr val="F26B43"/>
          </p15:clr>
        </p15:guide>
        <p15:guide id="13" pos="1728">
          <p15:clr>
            <a:srgbClr val="F26B43"/>
          </p15:clr>
        </p15:guide>
        <p15:guide id="18" pos="2160">
          <p15:clr>
            <a:srgbClr val="F26B43"/>
          </p15:clr>
        </p15:guide>
        <p15:guide id="20" pos="5520">
          <p15:clr>
            <a:srgbClr val="F26B43"/>
          </p15:clr>
        </p15:guide>
        <p15:guide id="21" pos="5952">
          <p15:clr>
            <a:srgbClr val="F26B43"/>
          </p15:clr>
        </p15:guide>
        <p15:guide id="22" pos="6384">
          <p15:clr>
            <a:srgbClr val="F26B43"/>
          </p15:clr>
        </p15:guide>
        <p15:guide id="24" pos="6816">
          <p15:clr>
            <a:srgbClr val="F26B43"/>
          </p15:clr>
        </p15:guide>
        <p15:guide id="25" pos="7248">
          <p15:clr>
            <a:srgbClr val="F26B43"/>
          </p15:clr>
        </p15:guide>
        <p15:guide id="26" pos="5088">
          <p15:clr>
            <a:srgbClr val="F26B43"/>
          </p15:clr>
        </p15:guide>
        <p15:guide id="27" pos="4656">
          <p15:clr>
            <a:srgbClr val="F26B43"/>
          </p15:clr>
        </p15:guide>
        <p15:guide id="28" pos="4224">
          <p15:clr>
            <a:srgbClr val="F26B43"/>
          </p15:clr>
        </p15:guide>
        <p15:guide id="29" pos="2592">
          <p15:clr>
            <a:srgbClr val="F26B43"/>
          </p15:clr>
        </p15:guide>
        <p15:guide id="30" pos="3024">
          <p15:clr>
            <a:srgbClr val="F26B43"/>
          </p15:clr>
        </p15:guide>
        <p15:guide id="31" pos="3456">
          <p15:clr>
            <a:srgbClr val="F26B43"/>
          </p15:clr>
        </p15:guide>
        <p15:guide id="32" orient="horz" pos="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C7DC2-432F-E85D-F334-706F6318A6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Football odds</a:t>
            </a:r>
            <a:endParaRPr lang="en-D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B2811F-877E-1A70-C96E-06EF852D04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Michal Grega</a:t>
            </a:r>
          </a:p>
          <a:p>
            <a:r>
              <a:rPr lang="en-US" dirty="0"/>
              <a:t>IT University of </a:t>
            </a:r>
            <a:r>
              <a:rPr lang="en-US" dirty="0" err="1"/>
              <a:t>copenhagen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511083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17EAC-4439-6AE1-B6AD-9255ACDED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lang="en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1A6AE-DCB0-1B8B-EC4D-521444688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6348" y="1034447"/>
            <a:ext cx="3894411" cy="5557825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800" dirty="0"/>
              <a:t>Objective</a:t>
            </a:r>
          </a:p>
          <a:p>
            <a:pPr marL="0" indent="0" algn="ctr">
              <a:buNone/>
            </a:pPr>
            <a:r>
              <a:rPr lang="en-US" sz="2800" dirty="0"/>
              <a:t>Data </a:t>
            </a:r>
          </a:p>
          <a:p>
            <a:pPr marL="0" indent="0" algn="ctr">
              <a:buNone/>
            </a:pPr>
            <a:r>
              <a:rPr lang="en-US" sz="2800" dirty="0"/>
              <a:t>EDA</a:t>
            </a:r>
          </a:p>
          <a:p>
            <a:pPr marL="0" indent="0" algn="ctr">
              <a:buNone/>
            </a:pPr>
            <a:r>
              <a:rPr lang="en-US" sz="2800" dirty="0"/>
              <a:t>Feature engineering</a:t>
            </a:r>
          </a:p>
          <a:p>
            <a:pPr marL="0" indent="0" algn="ctr">
              <a:buNone/>
            </a:pPr>
            <a:r>
              <a:rPr lang="en-US" sz="2800" dirty="0"/>
              <a:t>ML/Statistical models</a:t>
            </a:r>
          </a:p>
          <a:p>
            <a:pPr marL="0" indent="0" algn="ctr">
              <a:buNone/>
            </a:pPr>
            <a:r>
              <a:rPr lang="en-US" sz="2800" dirty="0"/>
              <a:t>Splitting the data</a:t>
            </a:r>
          </a:p>
          <a:p>
            <a:pPr marL="0" indent="0" algn="ctr">
              <a:buNone/>
            </a:pPr>
            <a:r>
              <a:rPr lang="en-US" sz="2800" dirty="0"/>
              <a:t>Evaluation</a:t>
            </a:r>
          </a:p>
          <a:p>
            <a:pPr marL="0" indent="0" algn="ctr">
              <a:buNone/>
            </a:pPr>
            <a:r>
              <a:rPr lang="en-US" sz="2800" dirty="0"/>
              <a:t>Results</a:t>
            </a:r>
          </a:p>
          <a:p>
            <a:pPr marL="0" indent="0" algn="ctr">
              <a:buNone/>
            </a:pPr>
            <a:r>
              <a:rPr lang="en-US" sz="2800" dirty="0"/>
              <a:t>Discussion &amp; conclusion</a:t>
            </a:r>
          </a:p>
          <a:p>
            <a:pPr marL="0" indent="0" algn="ctr">
              <a:buNone/>
            </a:pPr>
            <a:r>
              <a:rPr lang="en-US" sz="2800" dirty="0"/>
              <a:t>Future research suggestions</a:t>
            </a:r>
          </a:p>
        </p:txBody>
      </p:sp>
    </p:spTree>
    <p:extLst>
      <p:ext uri="{BB962C8B-B14F-4D97-AF65-F5344CB8AC3E}">
        <p14:creationId xmlns:p14="http://schemas.microsoft.com/office/powerpoint/2010/main" val="546331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4A2EA-EF4C-22DF-C3E3-DE4CFF678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	</a:t>
            </a:r>
            <a:endParaRPr lang="en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3DF32-EA67-3EFB-E67A-29C8E04A3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85007"/>
          </a:xfrm>
        </p:spPr>
        <p:txBody>
          <a:bodyPr/>
          <a:lstStyle/>
          <a:p>
            <a:pPr marL="0" indent="0">
              <a:buNone/>
            </a:pPr>
            <a:r>
              <a:rPr lang="en-DK" sz="2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Performance of different machine learning methods on predicting the result of a football match</a:t>
            </a:r>
            <a:endParaRPr lang="en-US" sz="28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US" i="1" dirty="0"/>
          </a:p>
          <a:p>
            <a:r>
              <a:rPr lang="en-US" sz="2800" dirty="0"/>
              <a:t>Three way/1X2 betting</a:t>
            </a:r>
          </a:p>
          <a:p>
            <a:r>
              <a:rPr lang="en-US" sz="2800" dirty="0"/>
              <a:t>Producing decimal odds</a:t>
            </a:r>
          </a:p>
          <a:p>
            <a:r>
              <a:rPr lang="en-US" sz="2800" dirty="0"/>
              <a:t>Comparison with the market</a:t>
            </a:r>
          </a:p>
          <a:p>
            <a:r>
              <a:rPr lang="en-US" sz="2800" dirty="0"/>
              <a:t>Discovering the best models</a:t>
            </a:r>
            <a:endParaRPr lang="en-DK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D9AFBE-4BA1-26B7-3BA3-FB9A8EC135FA}"/>
              </a:ext>
            </a:extLst>
          </p:cNvPr>
          <p:cNvSpPr txBox="1"/>
          <p:nvPr/>
        </p:nvSpPr>
        <p:spPr>
          <a:xfrm>
            <a:off x="7502013" y="3217393"/>
            <a:ext cx="2172929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sz="13800" dirty="0"/>
              <a:t>⚽</a:t>
            </a:r>
          </a:p>
        </p:txBody>
      </p:sp>
    </p:spTree>
    <p:extLst>
      <p:ext uri="{BB962C8B-B14F-4D97-AF65-F5344CB8AC3E}">
        <p14:creationId xmlns:p14="http://schemas.microsoft.com/office/powerpoint/2010/main" val="3974480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5C0DF-02F3-9903-C1CC-CC6F74CDB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  <a:endParaRPr lang="en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DE197-CD28-E100-C30C-58E6B71AB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986" y="1736176"/>
            <a:ext cx="10981137" cy="4507308"/>
          </a:xfrm>
        </p:spPr>
        <p:txBody>
          <a:bodyPr>
            <a:normAutofit fontScale="85000" lnSpcReduction="20000"/>
          </a:bodyPr>
          <a:lstStyle/>
          <a:p>
            <a:r>
              <a:rPr lang="en-US" sz="3300" dirty="0"/>
              <a:t>English premier league seasons 2014-2026 (~4300 matches)</a:t>
            </a:r>
          </a:p>
          <a:p>
            <a:r>
              <a:rPr lang="en-US" sz="3300" dirty="0"/>
              <a:t>Base dataset</a:t>
            </a:r>
          </a:p>
          <a:p>
            <a:r>
              <a:rPr lang="en-US" sz="3300" dirty="0"/>
              <a:t>Target variable – FTR</a:t>
            </a:r>
          </a:p>
          <a:p>
            <a:r>
              <a:rPr lang="en-US" sz="3300" dirty="0"/>
              <a:t>Goals</a:t>
            </a:r>
          </a:p>
          <a:p>
            <a:r>
              <a:rPr lang="en-US" sz="3300" dirty="0"/>
              <a:t>Shots</a:t>
            </a:r>
          </a:p>
          <a:p>
            <a:r>
              <a:rPr lang="en-US" sz="3300" dirty="0"/>
              <a:t>Corners</a:t>
            </a:r>
          </a:p>
          <a:p>
            <a:r>
              <a:rPr lang="en-US" sz="3300" dirty="0"/>
              <a:t>Fouls</a:t>
            </a:r>
          </a:p>
          <a:p>
            <a:r>
              <a:rPr lang="en-US" sz="3300" dirty="0"/>
              <a:t>Cards</a:t>
            </a:r>
          </a:p>
          <a:p>
            <a:endParaRPr lang="en-D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789645-E51E-95D6-3776-769E23228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6508" y="2920206"/>
            <a:ext cx="5143500" cy="216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105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324AB-0F4B-10A3-6922-E62731751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</a:t>
            </a:r>
            <a:endParaRPr lang="en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7E60D-4092-881C-06A2-DFBF35E74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Target variable distribution</a:t>
            </a:r>
          </a:p>
          <a:p>
            <a:r>
              <a:rPr lang="en-US" sz="2800" dirty="0"/>
              <a:t>Mixed consistency</a:t>
            </a:r>
          </a:p>
          <a:p>
            <a:r>
              <a:rPr lang="en-US" sz="2800" dirty="0"/>
              <a:t>Goals count</a:t>
            </a:r>
          </a:p>
          <a:p>
            <a:r>
              <a:rPr lang="en-US" sz="2800" dirty="0"/>
              <a:t>Variance in data</a:t>
            </a:r>
            <a:endParaRPr lang="en-DK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5FF584-EBD9-1D33-EFEF-A56EA3A604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3554" y="4395018"/>
            <a:ext cx="4274573" cy="21178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5193DD-32A7-D100-6B86-E8E1DF2A49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5490" y="1296012"/>
            <a:ext cx="3628104" cy="28837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9F97846-FC42-20F7-4B9C-AE04F914BE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0095" y="4395018"/>
            <a:ext cx="4176350" cy="227800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A49F92D-19AE-15DB-10B3-42D28B8BDED8}"/>
              </a:ext>
            </a:extLst>
          </p:cNvPr>
          <p:cNvSpPr/>
          <p:nvPr/>
        </p:nvSpPr>
        <p:spPr>
          <a:xfrm>
            <a:off x="602986" y="6096000"/>
            <a:ext cx="657109" cy="18681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EE70000-A931-5AE9-5B97-DA6392F9BBA4}"/>
              </a:ext>
            </a:extLst>
          </p:cNvPr>
          <p:cNvSpPr/>
          <p:nvPr/>
        </p:nvSpPr>
        <p:spPr>
          <a:xfrm>
            <a:off x="5107890" y="6117221"/>
            <a:ext cx="985664" cy="18681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2AED36B-9320-58D1-0DC7-F22A5F594417}"/>
              </a:ext>
            </a:extLst>
          </p:cNvPr>
          <p:cNvSpPr/>
          <p:nvPr/>
        </p:nvSpPr>
        <p:spPr>
          <a:xfrm>
            <a:off x="10359861" y="6181130"/>
            <a:ext cx="1224262" cy="18681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029227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A01D0-ACD9-0775-95B0-881DCA88E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engineering</a:t>
            </a:r>
            <a:endParaRPr lang="en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F284D-2B0F-C977-617D-CBF37B3871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/>
              <a:t>Feature importance</a:t>
            </a:r>
          </a:p>
          <a:p>
            <a:r>
              <a:rPr lang="en-US" sz="2800" dirty="0"/>
              <a:t>Feature selection</a:t>
            </a:r>
          </a:p>
          <a:p>
            <a:r>
              <a:rPr lang="en-US" sz="2800" dirty="0"/>
              <a:t>Richer information</a:t>
            </a:r>
          </a:p>
          <a:p>
            <a:r>
              <a:rPr lang="en-US" sz="2800" dirty="0" err="1"/>
              <a:t>xG</a:t>
            </a:r>
            <a:endParaRPr lang="en-US" sz="2800" dirty="0"/>
          </a:p>
          <a:p>
            <a:r>
              <a:rPr lang="en-US" sz="2800" dirty="0"/>
              <a:t>Elo</a:t>
            </a:r>
          </a:p>
          <a:p>
            <a:r>
              <a:rPr lang="en-US" sz="2800" dirty="0"/>
              <a:t>Ppg</a:t>
            </a:r>
          </a:p>
          <a:p>
            <a:r>
              <a:rPr lang="en-US" sz="2800" dirty="0"/>
              <a:t>EWMA</a:t>
            </a:r>
          </a:p>
          <a:p>
            <a:endParaRPr lang="en-US" dirty="0"/>
          </a:p>
          <a:p>
            <a:endParaRPr lang="en-US" dirty="0"/>
          </a:p>
          <a:p>
            <a:endParaRPr lang="en-D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FD02F5-56B4-E86A-A7A6-3C883D8E5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5225" y="3067664"/>
            <a:ext cx="6549354" cy="256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610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C08AA-FAA6-B96E-B530-E76344D30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</a:t>
            </a:r>
            <a:endParaRPr lang="en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B6E99-6AB5-28F7-CA8A-139687138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Discriminative</a:t>
            </a:r>
          </a:p>
          <a:p>
            <a:r>
              <a:rPr lang="en-US" sz="2800" dirty="0"/>
              <a:t>Ensemble </a:t>
            </a:r>
          </a:p>
          <a:p>
            <a:r>
              <a:rPr lang="en-US" sz="2800" dirty="0"/>
              <a:t>Logistic regression</a:t>
            </a:r>
          </a:p>
          <a:p>
            <a:r>
              <a:rPr lang="en-US" sz="2800" dirty="0"/>
              <a:t>SVM</a:t>
            </a:r>
          </a:p>
          <a:p>
            <a:r>
              <a:rPr lang="en-US" sz="2800" dirty="0"/>
              <a:t>FFNN</a:t>
            </a:r>
            <a:endParaRPr lang="en-DK" sz="28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4CDF4B1-1190-7079-7B84-4E4C64D06B0B}"/>
              </a:ext>
            </a:extLst>
          </p:cNvPr>
          <p:cNvSpPr txBox="1">
            <a:spLocks/>
          </p:cNvSpPr>
          <p:nvPr/>
        </p:nvSpPr>
        <p:spPr>
          <a:xfrm>
            <a:off x="5980469" y="1009547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Generative</a:t>
            </a:r>
          </a:p>
          <a:p>
            <a:r>
              <a:rPr lang="en-US" dirty="0"/>
              <a:t>Poisson regression </a:t>
            </a:r>
          </a:p>
          <a:p>
            <a:pPr lvl="1"/>
            <a:r>
              <a:rPr lang="en-US" sz="2800" dirty="0"/>
              <a:t>Dixon-Coles</a:t>
            </a:r>
          </a:p>
          <a:p>
            <a:pPr lvl="1"/>
            <a:r>
              <a:rPr lang="en-US" sz="2800" dirty="0"/>
              <a:t>Dixon-Coles with covariates</a:t>
            </a:r>
          </a:p>
          <a:p>
            <a:pPr lvl="1"/>
            <a:r>
              <a:rPr lang="en-US" sz="2800" dirty="0"/>
              <a:t>Bivariate Poisson with covariates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44A366-A0B4-36CB-60F5-B6D489768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7277" y="3429000"/>
            <a:ext cx="3634689" cy="3275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1084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9FF50-7E23-B98E-0D69-13D626373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split</a:t>
            </a:r>
            <a:endParaRPr lang="en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FFB9C-3986-B299-3BA8-066710785B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/>
              <a:t>Many seasons</a:t>
            </a:r>
          </a:p>
          <a:p>
            <a:r>
              <a:rPr lang="en-US" sz="2800" dirty="0"/>
              <a:t>Walk forward CV</a:t>
            </a:r>
          </a:p>
          <a:p>
            <a:r>
              <a:rPr lang="en-US" sz="2800" dirty="0"/>
              <a:t>3 prior seasons</a:t>
            </a:r>
          </a:p>
          <a:p>
            <a:r>
              <a:rPr lang="en-US" sz="2800" dirty="0"/>
              <a:t>+ extra parts within the </a:t>
            </a:r>
          </a:p>
          <a:p>
            <a:pPr marL="0" indent="0">
              <a:buNone/>
            </a:pPr>
            <a:r>
              <a:rPr lang="en-US" sz="2800" dirty="0"/>
              <a:t>   season that is tested</a:t>
            </a:r>
          </a:p>
          <a:p>
            <a:r>
              <a:rPr lang="en-US" sz="2800" dirty="0"/>
              <a:t>Validation set where needed</a:t>
            </a:r>
          </a:p>
          <a:p>
            <a:r>
              <a:rPr lang="en-US" sz="2800" dirty="0"/>
              <a:t>Serving as final evaluation split</a:t>
            </a:r>
            <a:endParaRPr lang="en-DK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55D57A-BBE1-1218-0D99-81D26EDD23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9794" y="3423786"/>
            <a:ext cx="3928655" cy="26561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B25131-FD9E-1A27-A9AC-F489A2D1E4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1128520"/>
            <a:ext cx="4292449" cy="2222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312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E7C84-AAB2-CD19-8A05-20DC58BD2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methods</a:t>
            </a:r>
            <a:endParaRPr lang="en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61275-FD1D-A3BB-D192-563F53368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Full-time result</a:t>
            </a:r>
          </a:p>
          <a:p>
            <a:r>
              <a:rPr lang="en-US" sz="2800" dirty="0"/>
              <a:t>Own models vs the market odds</a:t>
            </a:r>
          </a:p>
          <a:p>
            <a:r>
              <a:rPr lang="en-US" sz="2800" dirty="0"/>
              <a:t>Best configurations</a:t>
            </a:r>
          </a:p>
          <a:p>
            <a:r>
              <a:rPr lang="en-US" sz="2800" dirty="0"/>
              <a:t>Accuracy</a:t>
            </a:r>
          </a:p>
          <a:p>
            <a:r>
              <a:rPr lang="en-US" sz="2800" dirty="0"/>
              <a:t>Log loss </a:t>
            </a:r>
          </a:p>
          <a:p>
            <a:r>
              <a:rPr lang="en-US" sz="2800" dirty="0"/>
              <a:t>Brier score</a:t>
            </a:r>
          </a:p>
          <a:p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939034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60C0F-5B1C-077E-8796-BA19228BC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  <a:endParaRPr lang="en-D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34F713F-78A0-BBEE-4874-DF4565CD41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12293" y="2900516"/>
            <a:ext cx="6741507" cy="2443797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BE003C4-018F-FF9B-364E-387C6F33CF6D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Comfortably outperforming baseline</a:t>
            </a:r>
          </a:p>
          <a:p>
            <a:r>
              <a:rPr lang="en-US" dirty="0"/>
              <a:t>High performers:</a:t>
            </a:r>
          </a:p>
          <a:p>
            <a:pPr lvl="1"/>
            <a:r>
              <a:rPr lang="en-US" dirty="0"/>
              <a:t>Logistic regression</a:t>
            </a:r>
          </a:p>
          <a:p>
            <a:pPr lvl="1"/>
            <a:r>
              <a:rPr lang="en-US" dirty="0"/>
              <a:t>Dixon-Coles with</a:t>
            </a:r>
          </a:p>
          <a:p>
            <a:pPr marL="457200" lvl="1" indent="0">
              <a:buNone/>
            </a:pPr>
            <a:r>
              <a:rPr lang="en-US" dirty="0"/>
              <a:t>    covariates</a:t>
            </a:r>
          </a:p>
          <a:p>
            <a:pPr lvl="1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Bivariate Poisson</a:t>
            </a:r>
          </a:p>
          <a:p>
            <a:r>
              <a:rPr lang="en-US" dirty="0"/>
              <a:t>Weak performers:</a:t>
            </a:r>
          </a:p>
          <a:p>
            <a:pPr lvl="1"/>
            <a:r>
              <a:rPr lang="en-US" dirty="0"/>
              <a:t>FFNN</a:t>
            </a:r>
          </a:p>
          <a:p>
            <a:pPr lvl="1"/>
            <a:r>
              <a:rPr lang="en-US" dirty="0"/>
              <a:t>SVM</a:t>
            </a:r>
          </a:p>
          <a:p>
            <a:pPr lvl="1"/>
            <a:r>
              <a:rPr lang="en-US" dirty="0" err="1"/>
              <a:t>XGBoost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4709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897DE-D35F-A6E5-037F-22285D5A6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&amp; conclusion</a:t>
            </a:r>
            <a:endParaRPr lang="en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01F68-B374-84D4-EA7E-F3BD362380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26858" cy="1517343"/>
          </a:xfrm>
        </p:spPr>
        <p:txBody>
          <a:bodyPr/>
          <a:lstStyle/>
          <a:p>
            <a:r>
              <a:rPr lang="en-US" sz="2800" dirty="0"/>
              <a:t>Goal count distribution 👑</a:t>
            </a:r>
          </a:p>
          <a:p>
            <a:r>
              <a:rPr lang="en-US" sz="2800" dirty="0"/>
              <a:t>Market effectivity unbeaten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D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83A1AD-82FC-FFF4-EA53-3FCACD1599ED}"/>
              </a:ext>
            </a:extLst>
          </p:cNvPr>
          <p:cNvSpPr txBox="1"/>
          <p:nvPr/>
        </p:nvSpPr>
        <p:spPr>
          <a:xfrm>
            <a:off x="6108127" y="4068504"/>
            <a:ext cx="5899354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Historical data and lack of other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Dataset size, variance and the nature of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Difficulty of the task</a:t>
            </a:r>
          </a:p>
          <a:p>
            <a:endParaRPr lang="en-DK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4481A0AE-5E46-2363-4088-3700A36B1DD7}"/>
              </a:ext>
            </a:extLst>
          </p:cNvPr>
          <p:cNvSpPr/>
          <p:nvPr/>
        </p:nvSpPr>
        <p:spPr>
          <a:xfrm rot="13264751">
            <a:off x="4489961" y="3541933"/>
            <a:ext cx="1632551" cy="4940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0334902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E80F8-8629-3D75-ECBE-E1A3D04A6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research suggestions</a:t>
            </a:r>
            <a:endParaRPr lang="en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B6B2F-16BE-DB1A-75BA-F2946EDCF4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Exploration of other model architectures</a:t>
            </a:r>
          </a:p>
          <a:p>
            <a:r>
              <a:rPr lang="en-US" sz="2800" dirty="0"/>
              <a:t>Scaling up</a:t>
            </a:r>
          </a:p>
          <a:p>
            <a:r>
              <a:rPr lang="en-US" sz="2800" dirty="0"/>
              <a:t>Novel information</a:t>
            </a:r>
            <a:endParaRPr lang="en-US" sz="3600" dirty="0"/>
          </a:p>
          <a:p>
            <a:endParaRPr lang="en-DK" sz="2800" dirty="0"/>
          </a:p>
        </p:txBody>
      </p:sp>
    </p:spTree>
    <p:extLst>
      <p:ext uri="{BB962C8B-B14F-4D97-AF65-F5344CB8AC3E}">
        <p14:creationId xmlns:p14="http://schemas.microsoft.com/office/powerpoint/2010/main" val="848731170"/>
      </p:ext>
    </p:extLst>
  </p:cSld>
  <p:clrMapOvr>
    <a:masterClrMapping/>
  </p:clrMapOvr>
</p:sld>
</file>

<file path=ppt/theme/theme1.xml><?xml version="1.0" encoding="utf-8"?>
<a:theme xmlns:a="http://schemas.openxmlformats.org/drawingml/2006/main" name="Orange Experience">
  <a:themeElements>
    <a:clrScheme name="Orange Experience">
      <a:dk1>
        <a:srgbClr val="131313"/>
      </a:dk1>
      <a:lt1>
        <a:sysClr val="window" lastClr="FFFFFF"/>
      </a:lt1>
      <a:dk2>
        <a:srgbClr val="444742"/>
      </a:dk2>
      <a:lt2>
        <a:srgbClr val="EDECE9"/>
      </a:lt2>
      <a:accent1>
        <a:srgbClr val="ED6845"/>
      </a:accent1>
      <a:accent2>
        <a:srgbClr val="F48A56"/>
      </a:accent2>
      <a:accent3>
        <a:srgbClr val="9FA295"/>
      </a:accent3>
      <a:accent4>
        <a:srgbClr val="5B6E74"/>
      </a:accent4>
      <a:accent5>
        <a:srgbClr val="6E7868"/>
      </a:accent5>
      <a:accent6>
        <a:srgbClr val="A1AAAA"/>
      </a:accent6>
      <a:hlink>
        <a:srgbClr val="F05814"/>
      </a:hlink>
      <a:folHlink>
        <a:srgbClr val="E99401"/>
      </a:folHlink>
    </a:clrScheme>
    <a:fontScheme name="Custom 40">
      <a:majorFont>
        <a:latin typeface="Oswald SemiBold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range experience" id="{9BAA8FFB-1EEF-49AC-B7FF-0F37799585E9}" vid="{6523F788-A6E6-47B0-B3C7-625411BE5A1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Orange Experience</Template>
  <TotalTime>2308</TotalTime>
  <Words>233</Words>
  <Application>Microsoft Office PowerPoint</Application>
  <PresentationFormat>Widescreen</PresentationFormat>
  <Paragraphs>100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Oswald SemiBold</vt:lpstr>
      <vt:lpstr>Univers Condensed Light</vt:lpstr>
      <vt:lpstr>Orange Experience</vt:lpstr>
      <vt:lpstr>Football odds</vt:lpstr>
      <vt:lpstr>Outline</vt:lpstr>
      <vt:lpstr>Objective </vt:lpstr>
      <vt:lpstr>Data</vt:lpstr>
      <vt:lpstr>EDA</vt:lpstr>
      <vt:lpstr>Feature engineering</vt:lpstr>
      <vt:lpstr>Models</vt:lpstr>
      <vt:lpstr>Data split</vt:lpstr>
      <vt:lpstr>Evaluation methods</vt:lpstr>
      <vt:lpstr>Results</vt:lpstr>
      <vt:lpstr>Discussion &amp; conclusion</vt:lpstr>
      <vt:lpstr>Future research suggestions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Michal Grega</dc:creator>
  <cp:lastModifiedBy>Michal Grega</cp:lastModifiedBy>
  <cp:revision>3</cp:revision>
  <dcterms:created xsi:type="dcterms:W3CDTF">2026-08-25T12:06:48Z</dcterms:created>
  <dcterms:modified xsi:type="dcterms:W3CDTF">2026-09-01T08:02:18Z</dcterms:modified>
</cp:coreProperties>
</file>